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C96F4A"/>
                </a:solidFill>
                <a:latin typeface="Arial"/>
              </a:defRPr>
            </a:pPr>
            <a:r>
              <a:t>PROJECT REVIEW 1 • SUBMISSION PACK</a:t>
            </a:r>
          </a:p>
          <a:p>
            <a:pPr>
              <a:spcAft>
                <a:spcPts val="800"/>
              </a:spcAft>
              <a:defRPr sz="3200" b="1">
                <a:solidFill>
                  <a:srgbClr val="3A2B25"/>
                </a:solidFill>
                <a:latin typeface="Georgia"/>
              </a:defRPr>
            </a:pPr>
            <a:r>
              <a:t>Online Healthcare Management System</a:t>
            </a:r>
          </a:p>
          <a:p>
            <a:pPr>
              <a:spcAft>
                <a:spcPts val="2800"/>
              </a:spcAft>
              <a:defRPr sz="1600">
                <a:solidFill>
                  <a:srgbClr val="C96F4A"/>
                </a:solidFill>
                <a:latin typeface="Arial"/>
              </a:defRPr>
            </a:pPr>
            <a:r>
              <a:t>Enterprise Java Web Architecture (Jakarta Servlet 6.0 + JSP 3.1 + JDBC + MySQL 8.0)</a:t>
            </a:r>
          </a:p>
          <a:p>
            <a:pPr>
              <a:spcAft>
                <a:spcPts val="600"/>
              </a:spcAft>
              <a:defRPr sz="1400" b="1">
                <a:solidFill>
                  <a:srgbClr val="3A2B25"/>
                </a:solidFill>
                <a:latin typeface="Arial"/>
              </a:defRPr>
            </a:pPr>
            <a:r>
              <a:t>Presenter: Deepanshu (Lead Developer &amp; System Architect)</a:t>
            </a:r>
          </a:p>
          <a:p>
            <a:pPr>
              <a:spcAft>
                <a:spcPts val="600"/>
              </a:spcAft>
              <a:defRPr sz="1300">
                <a:solidFill>
                  <a:srgbClr val="8A7268"/>
                </a:solidFill>
                <a:latin typeface="Arial"/>
              </a:defRPr>
            </a:pPr>
            <a:r>
              <a:t>Course: Java Web-Based Application Development  |  Evaluation Phase: Review 1 Assessment</a:t>
            </a:r>
          </a:p>
          <a:p>
            <a:pPr>
              <a:defRPr sz="1200">
                <a:solidFill>
                  <a:srgbClr val="7FA88B"/>
                </a:solidFill>
                <a:latin typeface="Arial"/>
              </a:defRPr>
            </a:pPr>
            <a:r>
              <a:t>Rubric Domains: Problem Understanding &amp; Architecture (8) • Core Java (10) • Database/JDBC (8) • Servlets &amp; Web (7)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Problem Statement &amp; Strategic Engineering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96F4A"/>
                </a:solidFill>
                <a:latin typeface="Georgia"/>
              </a:defRPr>
            </a:pPr>
            <a:r>
              <a:t>The Clinical Challenge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Traditional clinic operations suffer from manual, paper-heavy scheduling leading to double-booked consultations.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Fragmented patient medical records across visits result in missing prescription histories and compromised clinical care.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Lack of unified role-based authorization exposes sensitive patient EHR records to unauthorized staff.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Inefficient database connectivity models without pooling produce connection leaks and high latency under clinic peak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96F4A"/>
                </a:solidFill>
                <a:latin typeface="Georgia"/>
              </a:defRPr>
            </a:pPr>
            <a:r>
              <a:t>Review 1 Objectives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100% Pure Java Enterprise Stack: Build a robust Jakarta Servlet 6.0 + JSP system without heavy black-box frameworks.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Normalized 3NF Relational Architecture: Guarantee data integrity across 12 relational tables with foreign keys and indexes.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High-Performance Connection Pooling: Implement HikariCP connection leasing with try-with-resources and PreparedStatements.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ACID Concurrency Safety: Keyed ReentrantLock slot synchronization preventing race conditions during live patient booking.</a:t>
            </a:r>
          </a:p>
          <a:p>
            <a:pPr>
              <a:spcAft>
                <a:spcPts val="600"/>
              </a:spcAft>
              <a:defRPr sz="1300">
                <a:solidFill>
                  <a:srgbClr val="3A2B25"/>
                </a:solidFill>
                <a:latin typeface="Arial"/>
              </a:defRPr>
            </a:pPr>
            <a:r>
              <a:t>• Responsive, Accessible Design System: Warm peach design tokens ensuring seamless operation across 375px mobile and desktop.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User Roles &amp; Multi-Stakeholder Feature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👑 Administrator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Central clinic user and doctor registry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Real-time operational throughput KPI cards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Immutable audit security log monitoring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System settings configuration &amp; demo reset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Live JDBC database connectivity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🩺 Consulting Doctor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Weekly recurring availability roster manager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Daily appointment queue &amp; triage status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EHR medical diagnosis and prescription entry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Patient historical clinical chart inspection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Star rating feedback review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👤 Registered Patient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Self-service account registration with BCrypt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Specialist directory search &amp; filter catalog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Real-time slot reservation with locking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Personal prescription and EHR history view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Verified consultation feedback and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Enterprise Technology Stack &amp; Engineering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☕ Core Java 17 LTS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Modern language features (Records, pattern matching, strong typing, multithreading primitives), memory safety, and high server-side execution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⚙️ Jakarta Servlet 6.0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Provides predictable low-overhead HTTP lifecycle control (init, service, destroy), clean request dispatching, and extensible Filter interceptor chains.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🎨 Jakarta JSP 3.1 &amp; JSTL 3.0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Declarative server-side view rendering, dynamic templating, automatic XSS HTML escaping, and separation of UI markup from backend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🏊 JDBC &amp; HikariCP 5.1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Enterprise connection pooling managing leased connections; eliminates connection leak hazards with 100% PreparedStatement injection defense.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🗄️ MySQL 8.0+ / 9.x (InnoDB)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ACID-compliant relational persistence, foreign key cascades, transaction isolation, and B-Tree indexing on high-frequency lookup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🚀 Embedded Tomcat 10.1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Enables zero-configuration, 1-command local execution (mvn compile exec:java) while maintaining standard production WAR deployment portability.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Layered MVC Architecture &amp; Security Interceptor Pipeline</a:t>
            </a:r>
          </a:p>
        </p:txBody>
      </p:sp>
      <p:pic>
        <p:nvPicPr>
          <p:cNvPr id="4" name="Picture 3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Request Lifecycle Flow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1. Interceptor Filter Chain: Requests pass through Encoding, Logging, Tunnel, Auth, and Role-Based Access Control filters.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2. Controller Dispatch: Jakarta Servlets parse inputs, validate CSRF tokens, and invoke domain services.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3. Service &amp; Transaction Layer: Orchestrates business rules, caching, and concurrent ReentrantLock slot coordination.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4. Persistence DAO Layer: Parameterized PreparedStatements with generic RowMapper extraction.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5. Connection Pool: Leased HikariCP JDBC connections talking to MySQL 8 InnoDB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Clean Modular Project Structure &amp; Layer Packaging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Package Organization (src/main/java)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com.healthcare.model — Polymorphic entities &amp; contracts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com.healthcare.dao — Generic Repository &amp; JDBC RowMappers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com.healthcare.service — Transactions, cache &amp; logic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com.healthcare.servlet — BaseServlet &amp; HTTP controllers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com.healthcare.filter — Security, RBAC &amp; logging filters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com.healthcare.listener — Lifecycle &amp; session monitors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com.healthcare.exception — Custom domain exception hierarchy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com.healthcare.util — HikariCP pool, BCrypt, CSRF, PDF</a:t>
            </a:r>
          </a:p>
          <a:p>
            <a:pPr>
              <a:spcAft>
                <a:spcPts val="4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📁 com.healthcare.concurrent — ReentrantLocks &amp; schedulers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Engineering Standards &amp; Quality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Package-info Documentation: Every package contains an explanatory package-info.java defining architectural boundaries.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Strict Layer Decoupling: Servlets never access raw JDBC directly; DAOs never handle HTTP sessions; models remain pure POJOs.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Central BaseServlet: Inherits standard lifecycle logging (init, service, destroy), CSRF validation, and JSON helpers.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Zero Magic Numbers: System constants encapsulated in domain enums (Role, AppointmentStatus) and configuration tables.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100% SLF4J / Logback: Zero System.out / System.err across main codebase; production structured logging enabled.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System Use-Case Modeling &amp; Role Interactions</a:t>
            </a:r>
          </a:p>
        </p:txBody>
      </p:sp>
      <p:pic>
        <p:nvPicPr>
          <p:cNvPr id="4" name="Picture 3" descr="use-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0" y="1463040"/>
            <a:ext cx="2743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Key Invariants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RBAC Route Guarding: URL patterns enforced by AuthFilter and RoleFilter.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Principal Isolation: Patients cannot view administrative logs; doctors restricted to their patient rosters.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Session Security: Session fixation protection via changeSessionId() upon authentication.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Database Design: 3NF Normalized Relational Schema</a:t>
            </a:r>
          </a:p>
        </p:txBody>
      </p:sp>
      <p:pic>
        <p:nvPicPr>
          <p:cNvPr id="4" name="Picture 3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3NF Schema Normalization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1NF Compliance: All columns atomic; vitals separated into blood pressure, pulse, and temperature.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2NF Compliance: Doctor and Patient tables extend Users via 1-to-1 PK-to-FK links, eliminating partial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3NF Compliance: Transitive dependencies removed; consultation rates anchored in doctors; diagnoses in medical_records.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Foreign Key Cascades: Cascade deletions on users cleanly purge doctor/patient records while preserving appointments via RESTRICT.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InnoDB Storage Engine: Row-level locking and ACID transactions for multi-row booking sequences.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Relational Schema Tables &amp; Constraint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12-Table Enterprise Relational Schema Breakdown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users (16 rows): PK id, UNIQUE email, role ENUM, password_hash BCrypt, failed_attempts, locked_until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doctors (5 rows): PK/FK id -&gt; users, specialization, experience, consultation_fee, room_number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patients (10 rows): PK/FK id -&gt; users, age, gender, phone, blood_group, emergency_contact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schedules (21 rows): PK id, FK doctor_id, day_of_week, start_time, end_time, slot_duration_minutes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time_slots (30 rows): PK id, FK doctor_id, UNIQUE (doctor_id, slot_date, start_time), is_booked, version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appointments (11 rows): PK id, FKs to doctor, patient, slot; UNIQUE (slot_id); status ENUM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medical_records (5 rows): PK id, FK appointment_id, FK patient_id, diagnosis, prescription, vitals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feedback (5 rows): PK id, UNIQUE appointment_id, CHECK (rating &gt;= 1 AND rating &lt;= 5), comment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notifications (190 rows): PK id, FK user_id, title, message, type, is_read, timestamp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system_settings (11 rows): PK setting_key, setting_value, description (supports dynamic app properties)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audit_logs (8 rows): PK id, FK user_id, action, details, ip_address, created_at (immutable trail)</a:t>
            </a:r>
          </a:p>
          <a:p>
            <a:pPr>
              <a:spcAft>
                <a:spcPts val="200"/>
              </a:spcAft>
              <a:defRPr sz="1050">
                <a:solidFill>
                  <a:srgbClr val="3A2B25"/>
                </a:solidFill>
                <a:latin typeface="Arial"/>
              </a:defRPr>
            </a:pPr>
            <a:r>
              <a:t>• login_attempts (0 rows): PK id, email, ip_address, success, attempted_at (supports lockout defense)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Database Connectivity (JDBC) &amp; Live /db-test Diagnostic</a:t>
            </a:r>
          </a:p>
        </p:txBody>
      </p:sp>
      <p:pic>
        <p:nvPicPr>
          <p:cNvPr id="4" name="Picture 3" descr="db-test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JDBC Verification Metrics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HikariCP Connection Pool: Leased connections, max pool size: 20, min idle: 5, connection timeout: 10s.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Live Connectivity Proof: Ping latency: 0 ms on MySQL 9.7.1 via mysql-connector-j 8.3.0.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Automated CRUD Benchmark: 4 live operations (Create -&gt; Read -&gt; Update -&gt; Delete) passed in 8 ms total.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Zero SQL Injection Risk: 100% java.sql.PreparedStatement query construction across all DAOs.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Resource Safety: Standard try-with-resources auto-closes all Connection, Statement, and ResultSet instances.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Core Java Concepts (Rubric: 10 Marks)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6F4A"/>
                </a:solidFill>
                <a:latin typeface="Georgia"/>
              </a:defRPr>
            </a:pPr>
            <a:r>
              <a:t>OOP &amp; Polymorphism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Polymorphic User hierarchy (Doctor, Patient, Admin) implementing Authenticatable, Bookable, and Reportable contracts with overridden getDashboardPath().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6F4A"/>
                </a:solidFill>
                <a:latin typeface="Georgia"/>
              </a:defRPr>
            </a:pPr>
            <a:r>
              <a:t>Generics &amp; Collections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Generic Repository&lt;T, ID&gt;, functional RowMapper&lt;T&gt;, ApiResponse&lt;T&gt; DTO, thread-safe ConcurrentHashMap in SlotLockManager and DoctorCache.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6F4A"/>
                </a:solidFill>
                <a:latin typeface="Georgia"/>
              </a:defRPr>
            </a:pPr>
            <a:r>
              <a:t>Custom Exceptions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Domain exception hierarchy with HealthcareException base, branching into AuthenticationException, ValidationException, DatabaseException, and AppointmentConflictException.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6F4A"/>
                </a:solidFill>
                <a:latin typeface="Georgia"/>
              </a:defRPr>
            </a:pPr>
            <a:r>
              <a:t>Concurrency &amp; Locks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SlotLockManager fine-grained ReentrantLock(true) per doctor-slot; ScheduledExecutorService in ReminderScheduler for automated patient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6F4A"/>
                </a:solidFill>
                <a:latin typeface="Georgia"/>
              </a:defRPr>
            </a:pPr>
            <a:r>
              <a:t>JDBC Transactions</a:t>
            </a:r>
          </a:p>
          <a:p>
            <a:pPr>
              <a:defRPr sz="1100">
                <a:solidFill>
                  <a:srgbClr val="3A2B25"/>
                </a:solidFill>
                <a:latin typeface="Arial"/>
              </a:defRPr>
            </a:pPr>
            <a:r>
              <a:t>Explicit transaction boundaries (conn.setAutoCommit(false), conn.commit(), conn.rollback()) ensuring atomicity across slot booking and appointment insertion.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Design System Architecture: Warm Peach Aesthetic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Design Principles &amp; Tokens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Warm Palette Tokens: Curated HSL colors (--bg: #FFFBF8, --peach-500: #E8906B, --text: #3A2B25); zero harsh neon tones.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Typography Hierarchy: Fraunces (refined modern editorial serif) for headings + Plus Jakarta Sans for high-legibility body UI.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Bento Grid Component System: Modular card spans (col-span-3, col-span-6) supporting animated KPI counters and activity streams.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Micro-Interactions: Smooth cubic-bezier transitions, soft atmospheric background blur blobs, and tactile button hover states.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Dark Mode Infrastructure: Full [data-theme='dark'] CSS variable token overrides for eye-friendly low-light clinical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Component Library &amp; UX Patterns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Bento Stat Cards: Animated numeric counters, status delta indicators, and clinical category icons.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Accessible Forms: Floating labels, inline input validation states, and 1-click demo credential autofill.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Responsive Data Tables: Stacked card adaptation on mobile screens with badge chips for appointment statuses.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Flash Toast Messages: Non-blocking notification toasts with SVG indicators for system feedback.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Modal Dialogs: Accessible overlay booking prompts and medical record review drawers.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Desktop User Experience &amp; Multi-Role Dashboards</a:t>
            </a:r>
          </a:p>
        </p:txBody>
      </p:sp>
      <p:pic>
        <p:nvPicPr>
          <p:cNvPr id="4" name="Picture 3" descr="landing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286000"/>
          </a:xfrm>
          <a:prstGeom prst="rect">
            <a:avLst/>
          </a:prstGeom>
        </p:spPr>
      </p:pic>
      <p:pic>
        <p:nvPicPr>
          <p:cNvPr id="5" name="Picture 4" descr="admin-dashboard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286000"/>
          </a:xfrm>
          <a:prstGeom prst="rect">
            <a:avLst/>
          </a:prstGeom>
        </p:spPr>
      </p:pic>
      <p:pic>
        <p:nvPicPr>
          <p:cNvPr id="6" name="Picture 5" descr="doctor-dashboard-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212080" cy="2286000"/>
          </a:xfrm>
          <a:prstGeom prst="rect">
            <a:avLst/>
          </a:prstGeom>
        </p:spPr>
      </p:pic>
      <p:pic>
        <p:nvPicPr>
          <p:cNvPr id="7" name="Picture 6" descr="patient-dashboard-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Multi-Device Responsiveness (375px Mobile vs 1280px Desktop)</a:t>
            </a:r>
          </a:p>
        </p:txBody>
      </p:sp>
      <p:pic>
        <p:nvPicPr>
          <p:cNvPr id="4" name="Picture 3" descr="landing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474720"/>
          </a:xfrm>
          <a:prstGeom prst="rect">
            <a:avLst/>
          </a:prstGeom>
        </p:spPr>
      </p:pic>
      <p:pic>
        <p:nvPicPr>
          <p:cNvPr id="5" name="Picture 4" descr="landing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2103120" cy="4846320"/>
          </a:xfrm>
          <a:prstGeom prst="rect">
            <a:avLst/>
          </a:prstGeom>
        </p:spPr>
      </p:pic>
      <p:pic>
        <p:nvPicPr>
          <p:cNvPr id="6" name="Picture 5" descr="admin-dashboard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463040"/>
            <a:ext cx="21031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6217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• Zero Horizontal Overflow: Verified at 375px, 768px, and 1280px viewports (scrollWidth == innerWidth).</a:t>
            </a:r>
          </a:p>
          <a:p>
            <a:pPr>
              <a:spcAft>
                <a:spcPts val="600"/>
              </a:spcAft>
              <a:defRPr sz="1100">
                <a:solidFill>
                  <a:srgbClr val="3A2B25"/>
                </a:solidFill>
                <a:latin typeface="Arial"/>
              </a:defRPr>
            </a:pPr>
            <a:r>
              <a:t>• Adaptive Navigation: Desktop persistent sidebar automatically collapses to mobile overlay drawer.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Jakarta Servlets &amp; Web Integration (Rubric: 7 Marks)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Servlet Lifecycle &amp; Sessions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Jakarta Servlet 6.0 Lifecycle: Explicit overrides of init(), service(), doGet(), doPost(), and destroy() in BaseServlet with SLF4J audit logging.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Session State Management: HTTP sessions store authenticated User principals with 30-minute inactivity timeouts.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Session Fixation Defense: Calls req.changeSessionId() immediately upon credential verification to block session fixation exploits.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Flash Feedback Messaging: Session-scoped feedback attributes automatically cleared post-render.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Servlet Filter Pipeline &amp; Security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EncodingFilter: Forces request and response encoding to UTF-8.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LoggingFilter: Measures millisecond latency and logs access trails.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TunnelSecurityFilter: Detects reverse proxies (Cloudflare/ngrok), attaching Secure and SameSite=Lax flags.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AuthFilter: Intercepts private route paths (/admin/*, /doctor/*, /patient/*), redirecting unauthenticated users to /login.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RoleFilter: Strict Role-Based Access Control enforcing role boundaries.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Current Accomplishments &amp; Review 2 Development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Review 1 Milestones Achieved (100%)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✓ 100% Modular Layering: model, dao, service, servlet, filter, listener, exception, util, concurrent with package-info.java.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✓ Normalized 3NF Database: 12 relational tables with foreign keys, indexes, and seeded clinical records.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✓ HikariCP JDBC Pool: Connection pooling with PreparedStatement and /db-test diagnostic benchmark.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✓ Multi-Role Authentication: BCrypt hashing, session fixation prevention, and 3 role dashboard shells.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✓ Verified Responsiveness: Tested across 375px, 768px, and 1280px without horizontal scroll.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96F4A"/>
                </a:solidFill>
                <a:latin typeface="Georgia"/>
              </a:defRPr>
            </a:pPr>
            <a:r>
              <a:t>Review 2 Development Roadmap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→ Advanced PDF Prescription Generation: Automated OpenPDF clinical summary download with doctor digital sign-off.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→ Telehealth Video Consultation Integration: WebRTC peer video room links embedded in active appointment consultations.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→ Automated Notification Dispatch: Multi-channel SMS and email reminders via Background ScheduledExecutorService.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→ Clinical Analytics Visualizations: Interactive Chart.js charts for clinic revenue and doctor consultation volumes.</a:t>
            </a:r>
          </a:p>
          <a:p>
            <a:pPr>
              <a:spcAft>
                <a:spcPts val="600"/>
              </a:spcAft>
              <a:defRPr sz="1200">
                <a:solidFill>
                  <a:srgbClr val="3A2B25"/>
                </a:solidFill>
                <a:latin typeface="Arial"/>
              </a:defRPr>
            </a:pPr>
            <a:r>
              <a:t>• → End-to-End JUnit 5 Integration Testing: Automated DAO transaction rollbacks and mock servlet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6F4A"/>
                </a:solidFill>
                <a:latin typeface="Arial"/>
              </a:defRPr>
            </a:pPr>
            <a:r>
              <a:t>ONLINE HEALTHCARE MANAGEMENT SYSTEM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A2B25"/>
                </a:solidFill>
                <a:latin typeface="Georgia"/>
              </a:defRPr>
            </a:pPr>
            <a:r>
              <a:t>Project Repository, Live Demo Access &amp; Verification</a:t>
            </a:r>
          </a:p>
        </p:txBody>
      </p:sp>
      <p:pic>
        <p:nvPicPr>
          <p:cNvPr id="4" name="Picture 3" descr="github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937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6F4A"/>
                </a:solidFill>
                <a:latin typeface="Arial"/>
              </a:defRPr>
            </a:pPr>
            <a:r>
              <a:t>Scan QR for Public GitHub Repo</a:t>
            </a:r>
          </a:p>
          <a:p>
            <a:pPr algn="ctr">
              <a:defRPr sz="900">
                <a:solidFill>
                  <a:srgbClr val="8A7268"/>
                </a:solidFill>
                <a:latin typeface="Arial"/>
              </a:defRPr>
            </a:pPr>
            <a:r>
              <a:t>https://github.com/ParvPrakash/healthcare-management-system-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6675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96F4A"/>
                </a:solidFill>
                <a:latin typeface="Georgia"/>
              </a:defRPr>
            </a:pPr>
            <a:r>
              <a:t>Pre-Seeded Demo Credentials (1-Click Auto-Fill)</a:t>
            </a:r>
          </a:p>
          <a:p>
            <a:pPr>
              <a:defRPr sz="1200" b="1">
                <a:solidFill>
                  <a:srgbClr val="3A2B25"/>
                </a:solidFill>
                <a:latin typeface="Arial"/>
              </a:defRPr>
            </a:pPr>
            <a:r>
              <a:t>👑 Administrator: admin@carefirst.com  |  Password: Admin@123</a:t>
            </a:r>
          </a:p>
          <a:p>
            <a:pPr>
              <a:spcAft>
                <a:spcPts val="800"/>
              </a:spcAft>
              <a:defRPr sz="1050">
                <a:solidFill>
                  <a:srgbClr val="8A7268"/>
                </a:solidFill>
                <a:latin typeface="Arial"/>
              </a:defRPr>
            </a:pPr>
            <a:r>
              <a:t>Features: User management, analytics, audit logs, settings, /db-test</a:t>
            </a:r>
          </a:p>
          <a:p>
            <a:pPr>
              <a:defRPr sz="1200" b="1">
                <a:solidFill>
                  <a:srgbClr val="3A2B25"/>
                </a:solidFill>
                <a:latin typeface="Arial"/>
              </a:defRPr>
            </a:pPr>
            <a:r>
              <a:t>🩺 Doctor: doctor.sarah@carefirst.com  |  Password: Doctor@123</a:t>
            </a:r>
          </a:p>
          <a:p>
            <a:pPr>
              <a:spcAft>
                <a:spcPts val="800"/>
              </a:spcAft>
              <a:defRPr sz="1050">
                <a:solidFill>
                  <a:srgbClr val="8A7268"/>
                </a:solidFill>
                <a:latin typeface="Arial"/>
              </a:defRPr>
            </a:pPr>
            <a:r>
              <a:t>Features: Schedule planner, appointment queue, EHR records, feedback</a:t>
            </a:r>
          </a:p>
          <a:p>
            <a:pPr>
              <a:defRPr sz="1200" b="1">
                <a:solidFill>
                  <a:srgbClr val="3A2B25"/>
                </a:solidFill>
                <a:latin typeface="Arial"/>
              </a:defRPr>
            </a:pPr>
            <a:r>
              <a:t>👤 Patient: john.doe@example.com  |  Password: Patient@123</a:t>
            </a:r>
          </a:p>
          <a:p>
            <a:pPr>
              <a:spcAft>
                <a:spcPts val="800"/>
              </a:spcAft>
              <a:defRPr sz="1050">
                <a:solidFill>
                  <a:srgbClr val="8A7268"/>
                </a:solidFill>
                <a:latin typeface="Arial"/>
              </a:defRPr>
            </a:pPr>
            <a:r>
              <a:t>Features: Specialist doctor catalog, live slot booking, prescriptions</a:t>
            </a:r>
          </a:p>
          <a:p>
            <a:pPr>
              <a:defRPr sz="1300" b="1">
                <a:solidFill>
                  <a:srgbClr val="7FA88B"/>
                </a:solidFill>
                <a:latin typeface="Arial"/>
              </a:defRPr>
            </a:pPr>
            <a:r>
              <a:t>1-Command Zero-Config Run: mvn compile exec:java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